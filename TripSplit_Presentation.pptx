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347472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COLLEGE FINAL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7C3AED"/>
                </a:solidFill>
                <a:latin typeface="Arial"/>
              </a:defRPr>
            </a:pPr>
            <a:r>
              <a:t>TRIPSPLIT OPTIMIZER</a:t>
            </a:r>
          </a:p>
          <a:p>
            <a:pPr>
              <a:spcBef>
                <a:spcPts val="800"/>
              </a:spcBef>
              <a:defRPr sz="2800" b="1">
                <a:solidFill>
                  <a:srgbClr val="FFFFFF"/>
                </a:solidFill>
              </a:defRPr>
            </a:pPr>
            <a:r>
              <a:t>Student Travel Budget &amp; Route Optimization Engine</a:t>
            </a:r>
          </a:p>
          <a:p>
            <a:pPr>
              <a:spcBef>
                <a:spcPts val="1400"/>
              </a:spcBef>
              <a:defRPr sz="1600">
                <a:solidFill>
                  <a:srgbClr val="94A3B8"/>
                </a:solidFill>
              </a:defRPr>
            </a:pPr>
            <a:r>
              <a:t>An Intelligent Multi-City Itinerary Allocation Engine &amp; Group Expense Splitter for India</a:t>
            </a:r>
          </a:p>
          <a:p>
            <a:pPr>
              <a:spcBef>
                <a:spcPts val="2800"/>
              </a:spcBef>
              <a:defRPr sz="1400" b="1">
                <a:solidFill>
                  <a:srgbClr val="10B981"/>
                </a:solidFill>
              </a:defRPr>
            </a:pPr>
            <a:r>
              <a:t>Department of Computer Science &amp; Engineering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92608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Travel Planning &amp; Financial Challenges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  Budget Allocation Confusion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Students struggle to distinguish between total group budgets vs per-person shares, leading to critical miscalculations during initial planning.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9728" cy="2148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  High Manual Research Effort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Designing multi-day travel itineraries across Indian cities manually takes hours of research with unpredictable venue and hotel costs.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109728" cy="2148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  Generic Non-Tailored Planners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Existing booking engines recommend high-end commercial spots without catering to student pricing constraints or regional transport choices.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109728" cy="2148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E11D48"/>
                </a:solidFill>
              </a:defRPr>
            </a:pPr>
            <a:r>
              <a:t>  Post-Trip Financial Friction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Shared group trips often suffer from unorganized bill tracking, resulting in complex and awkward debt settlements after returning.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931920"/>
            <a:ext cx="109728" cy="21488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92608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CORE INNOVATIONS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The TripSplit Solution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  Dynamic Budget Partitioning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Automatically divides input budget across Transport, Stay, Food, Local Travel, and Buffer with real-time per-person breakdowns.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9728" cy="2148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  Budget-Free Sightseeing Logic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Sightseeing entry tickets are calculated as budget-free, ensuring rich attraction recommendations regardless of accommodation tier.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109728" cy="2148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  5 Comparative Itinerary Styles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Generates five distinct trip plans in parallel: Best Overall, Cheapest Trip, Slow &amp; Relaxed, More Places, and Better Stay.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109728" cy="2148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  Integrated Group Expense Ledger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Features a built-in group bill manager with equal/custom splits, net settlement reduction algorithms, and visual charts.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3931920"/>
            <a:ext cx="109728" cy="2148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System Architecture &amp; Technology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FRONTEND LAYER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</a:defRPr>
            </a:pPr>
            <a:r>
              <a:t>Vanilla HTML5, CSS3 &amp; ES6+ JS</a:t>
            </a:r>
            <a:br/>
            <a:br/>
            <a:r>
              <a:t>• Single Page App (SPA) Navigation</a:t>
            </a:r>
            <a:br/>
            <a:r>
              <a:t>• Leaflet.js Interactive Mapping</a:t>
            </a:r>
            <a:br/>
            <a:r>
              <a:t>• TripAdvisor-Grade UI Design</a:t>
            </a:r>
            <a:br/>
            <a:r>
              <a:t>• Fully Responsive Grid Layouts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54480"/>
            <a:ext cx="33832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BACKEND ENGINE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</a:defRPr>
            </a:pPr>
            <a:r>
              <a:t>Python 3 &amp; FastAPI Framework</a:t>
            </a:r>
            <a:br/>
            <a:br/>
            <a:r>
              <a:t>• Knapsack Allocation Heuristics</a:t>
            </a:r>
            <a:br/>
            <a:r>
              <a:t>• Asynchronous REST API Endpoints</a:t>
            </a:r>
            <a:br/>
            <a:r>
              <a:t>• Uvicorn Serverless Execution</a:t>
            </a:r>
            <a:br/>
            <a:r>
              <a:t>• Modular Router &amp; Optimizer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554480"/>
            <a:ext cx="33832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DATA &amp; GEOSPATIAL</a:t>
            </a:r>
          </a:p>
          <a:p>
            <a:pPr>
              <a:spcBef>
                <a:spcPts val="1400"/>
              </a:spcBef>
              <a:defRPr sz="1300">
                <a:solidFill>
                  <a:srgbClr val="E2E8F0"/>
                </a:solidFill>
              </a:defRPr>
            </a:pPr>
            <a:r>
              <a:t>OpenStreetMap Ecosystem</a:t>
            </a:r>
            <a:br/>
            <a:br/>
            <a:r>
              <a:t>• Nominatim Instant Geocoding</a:t>
            </a:r>
            <a:br/>
            <a:r>
              <a:t>• Overpass POI API (Venues &amp; Sights)</a:t>
            </a:r>
            <a:br/>
            <a:r>
              <a:t>• Pre-cached City Databases</a:t>
            </a:r>
            <a:br/>
            <a:r>
              <a:t>• Fallback Real-World Catalogs</a:t>
            </a:r>
          </a:p>
        </p:txBody>
      </p:sp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92608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ALGORITHM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Optimization Heuristics &amp; Knapsack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  Phase 1: Bounding Box &amp; Geocoding  —  </a:t>
            </a:r>
            <a:r>
              <a:rPr sz="1300" b="0">
                <a:solidFill>
                  <a:srgbClr val="0F172A"/>
                </a:solidFill>
              </a:rPr>
              <a:t>Converts target city inputs into lat/lon coordinates. Applies a dense 5km radius bounding box cap for metro cities (Delhi, Mumbai) to optimize search latency.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9728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6984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  Phase 2: Venue Utility Scoring  —  </a:t>
            </a:r>
            <a:r>
              <a:rPr sz="1300" b="0">
                <a:solidFill>
                  <a:srgbClr val="0F172A"/>
                </a:solidFill>
              </a:rPr>
              <a:t>Classifies query results into Stays, Dining, and Attractions with utility scores (0-100) and cost estimates tailored for student travel.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9728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106984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  Phase 3: Constrained Partitioning  —  </a:t>
            </a:r>
            <a:r>
              <a:rPr sz="1300" b="0">
                <a:solidFill>
                  <a:srgbClr val="0F172A"/>
                </a:solidFill>
              </a:rPr>
              <a:t>Allocates funds across fixed categories (Transport, Accommodation, Food, Local Travel) with a minimum 10% safety buffer.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109728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166360"/>
            <a:ext cx="1069848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  Phase 4: Sequential Day Slotting  —  </a:t>
            </a:r>
            <a:r>
              <a:rPr sz="1300" b="0">
                <a:solidFill>
                  <a:srgbClr val="0F172A"/>
                </a:solidFill>
              </a:rPr>
              <a:t>Slots attractions sequentially into Morning, Afternoon, Evening, and Night timeline buckets, producing structured day-by-day plans.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166360"/>
            <a:ext cx="109728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92608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PLATFORM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India-Centric Features &amp; Capabilities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India-Specific Transport Modes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Supports regional travel options including 3AC Train, Sleeper Class, Flights, and Private Cabs with real fare estimates.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High-Availability Offline Catalog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Pre-populated real-world venue databases for major Indian travel hubs (Delhi, Mumbai, Goa, Jaipur) for zero downtime.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Side-by-Side Comparison Matrix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Interactive modal enabling simultaneous comparison of cost splits, stay ratings, and highlights across all 5 trip options.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12064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Seasonal Destination Guidance</a:t>
            </a:r>
          </a:p>
          <a:p>
            <a:pPr>
              <a:spcBef>
                <a:spcPts val="800"/>
              </a:spcBef>
              <a:defRPr sz="1300">
                <a:solidFill>
                  <a:srgbClr val="475569"/>
                </a:solidFill>
              </a:defRPr>
            </a:pPr>
            <a:r>
              <a:t>Displays climate and seasonal tags next to travel months (e.g., August - Monsoon, January - Winter Freeze warnings).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92608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FINANCIAL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Group Expense Splitter (Ledger Engine)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Dynamic Group Roster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</a:defRPr>
            </a:pPr>
            <a:r>
              <a:t>Configurable group member lists with dynamic payer dropdowns and customizable individual shares.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256032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Equal &amp; Custom Splits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</a:defRPr>
            </a:pPr>
            <a:r>
              <a:t>Supports equal division across group members or specific itemized custom amounts.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463040"/>
            <a:ext cx="256032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Net Debt Reduction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</a:defRPr>
            </a:pPr>
            <a:r>
              <a:t>Calculates net balance matrices to reduce the total number of transactions needed to settle group debts.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256032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Category Analytics</a:t>
            </a:r>
          </a:p>
          <a:p>
            <a:pPr>
              <a:spcBef>
                <a:spcPts val="1400"/>
              </a:spcBef>
              <a:defRPr sz="1300">
                <a:solidFill>
                  <a:srgbClr val="475569"/>
                </a:solidFill>
              </a:defRPr>
            </a:pPr>
            <a:r>
              <a:t>Generates category-wise expense pie and bar charts for transparent trip financial audits.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23960" y="1463040"/>
            <a:ext cx="2560320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92608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PERFORMANCE OPTIMIZATIONS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Vercel Serverless &amp; Deployment Stability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  Vercel Serverless Architecture: </a:t>
            </a:r>
            <a:r>
              <a:rPr sz="1300" b="0">
                <a:solidFill>
                  <a:srgbClr val="0F172A"/>
                </a:solidFill>
              </a:rPr>
              <a:t>Configured using @vercel/python with API route handlers (/api/*) and static asset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109728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69848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  Strict 3-Second Timeout Capping: </a:t>
            </a:r>
            <a:r>
              <a:rPr sz="1300" b="0">
                <a:solidFill>
                  <a:srgbClr val="0F172A"/>
                </a:solidFill>
              </a:rPr>
              <a:t>Capped HTTP timeouts across external API calls to guarantee complete response execution within Vercel serverless limits.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97480"/>
            <a:ext cx="109728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1069848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  Read-Only Filesystem Handling: </a:t>
            </a:r>
            <a:r>
              <a:rPr sz="1300" b="0">
                <a:solidFill>
                  <a:srgbClr val="0F172A"/>
                </a:solidFill>
              </a:rPr>
              <a:t>Safely catches file creation errors and redirects transient database operations to /tmp/tripsplit_cache.db.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31920"/>
            <a:ext cx="109728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166360"/>
            <a:ext cx="1069848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  Client Storage Persistence: </a:t>
            </a:r>
            <a:r>
              <a:rPr sz="1300" b="0">
                <a:solidFill>
                  <a:srgbClr val="0F172A"/>
                </a:solidFill>
              </a:rPr>
              <a:t>Leverages browser LocalStorage to store active user preferences, group rosters, and saved venue bookmarks.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166360"/>
            <a:ext cx="109728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"/>
            <a:ext cx="2926080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PROJECT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Future Enhancements &amp;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Live IRCTC &amp; Airline API Integration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Direct real-time train seat availability and live flight ticket price integration.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Collaborative Real-Time Editing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WebSocket-enabled collaborative trip planning allowing group members to edit itineraries simultaneously.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AI-Driven Personalization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Machine learning recommendations based on past user travel preferences and dietary needs.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1206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Native Mobile Application</a:t>
            </a:r>
          </a:p>
          <a:p>
            <a:pPr>
              <a:spcBef>
                <a:spcPts val="800"/>
              </a:spcBef>
              <a:defRPr sz="1300">
                <a:solidFill>
                  <a:srgbClr val="0F172A"/>
                </a:solidFill>
              </a:defRPr>
            </a:pPr>
            <a:r>
              <a:t>Cross-platform mobile application built with React Native / Flutter for offline field access.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2926080" cy="347472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PROJECT DELIVERABLE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7C3AED"/>
                </a:solidFill>
                <a:latin typeface="Arial"/>
              </a:defRPr>
            </a:pPr>
            <a:r>
              <a:t>Thank You!</a:t>
            </a:r>
          </a:p>
          <a:p>
            <a:pPr>
              <a:spcBef>
                <a:spcPts val="1200"/>
              </a:spcBef>
              <a:defRPr sz="2400" b="1">
                <a:solidFill>
                  <a:srgbClr val="FFFFFF"/>
                </a:solidFill>
              </a:defRPr>
            </a:pPr>
            <a:r>
              <a:t>TripSplit — Student Travel Budget &amp; Route Optimizer</a:t>
            </a:r>
          </a:p>
          <a:p>
            <a:pPr>
              <a:spcBef>
                <a:spcPts val="2000"/>
              </a:spcBef>
              <a:defRPr sz="1800" b="1">
                <a:solidFill>
                  <a:srgbClr val="10B981"/>
                </a:solidFill>
              </a:defRPr>
            </a:pPr>
            <a:r>
              <a:t>Questions &amp; Project Discussion Welcome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